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B35"/>
                </a:solidFill>
                <a:latin typeface="Arial Black"/>
              </a:defRPr>
            </a:pPr>
            <a:r>
              <a:t>DELAYED ONSET</a:t>
            </a:r>
            <a:br/>
            <a:r>
              <a:t>MUSCLE SORENESS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Understanding DOMS: The Science Behind Muscle Pain</a:t>
            </a:r>
            <a:br/>
            <a:r>
              <a:t>First-Year Student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Arial Black"/>
              </a:defRPr>
            </a:pPr>
            <a:r>
              <a:t>TYPES OF EXERCISE-INDUCED MUSCLE SORENESS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• Occurs during or immediately after exercise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Caused by ischemia &amp; metabolite buildup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Sensation: burning or aching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Subsides quickly with active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• Appears 12-24 hours post-exercise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Peak at 24-48 hours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Caused by microtrauma to muscle fibers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Eccentric contractions cause severe symptoms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Arial Black"/>
              </a:defRPr>
            </a:pPr>
            <a:r>
              <a:t>ETIOLOGY OF DOMS: THEORIES EXAMINED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METABOLIC WASTE THEORY (DISPROVEN)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- Lactic acid was thought to cause DOMS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- Studies show lactic acid clears within 1 hour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MUSCLE SPASM THEORY (DISPROVEN)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- Suggested pain-spam cycle caused soreness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- EMG studies showed no increase in activity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CURRENT UNDERSTANDING (ACCEPTED)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- Mechanical microtrauma to muscle fibers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- Results in inflammation, degeneration, edema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Arial Black"/>
              </a:defRPr>
            </a:pPr>
            <a:r>
              <a:t>DOMS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2560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12-24h</a:t>
            </a:r>
          </a:p>
          <a:p>
            <a:pPr algn="ctr">
              <a:defRPr sz="1600" b="1">
                <a:solidFill>
                  <a:srgbClr val="F7C948"/>
                </a:solidFill>
              </a:defRPr>
            </a:pPr>
            <a:r>
              <a:t>Phase 1</a:t>
            </a:r>
          </a:p>
          <a:p>
            <a:pPr algn="ctr">
              <a:defRPr sz="1400">
                <a:solidFill>
                  <a:srgbClr val="A0A0A0"/>
                </a:solidFill>
              </a:defRPr>
            </a:pPr>
            <a:r>
              <a:t>Onset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371600"/>
            <a:ext cx="2560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24-48h</a:t>
            </a:r>
          </a:p>
          <a:p>
            <a:pPr algn="ctr">
              <a:defRPr sz="1600" b="1">
                <a:solidFill>
                  <a:srgbClr val="F7C948"/>
                </a:solidFill>
              </a:defRPr>
            </a:pPr>
            <a:r>
              <a:t>Phase 2</a:t>
            </a:r>
          </a:p>
          <a:p>
            <a:pPr algn="ctr">
              <a:defRPr sz="1400">
                <a:solidFill>
                  <a:srgbClr val="A0A0A0"/>
                </a:solidFill>
              </a:defRPr>
            </a:pPr>
            <a:r>
              <a:t>PEAK soreness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2560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48-72h</a:t>
            </a:r>
          </a:p>
          <a:p>
            <a:pPr algn="ctr">
              <a:defRPr sz="1600" b="1">
                <a:solidFill>
                  <a:srgbClr val="F7C948"/>
                </a:solidFill>
              </a:defRPr>
            </a:pPr>
            <a:r>
              <a:t>Phase 3</a:t>
            </a:r>
          </a:p>
          <a:p>
            <a:pPr algn="ctr">
              <a:defRPr sz="1400">
                <a:solidFill>
                  <a:srgbClr val="A0A0A0"/>
                </a:solidFill>
              </a:defRPr>
            </a:pPr>
            <a:r>
              <a:t>Gradual decline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371600"/>
            <a:ext cx="2560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</a:defRPr>
            </a:pPr>
            <a:r>
              <a:t>10-14d</a:t>
            </a:r>
          </a:p>
          <a:p>
            <a:pPr algn="ctr">
              <a:defRPr sz="1600" b="1">
                <a:solidFill>
                  <a:srgbClr val="F7C948"/>
                </a:solidFill>
              </a:defRPr>
            </a:pPr>
            <a:r>
              <a:t>Phase 4</a:t>
            </a:r>
          </a:p>
          <a:p>
            <a:pPr algn="ctr">
              <a:defRPr sz="1400">
                <a:solidFill>
                  <a:srgbClr val="A0A0A0"/>
                </a:solidFill>
              </a:defRPr>
            </a:pPr>
            <a:r>
              <a:t>Resolution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Arial Black"/>
              </a:defRPr>
            </a:pPr>
            <a:r>
              <a:t>KEY SYMPTOMS OF DOMS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Muscle tenderness when touched or moved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Muscle stiffness and reduced flexibility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Localized pain in exercised muscles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Minor inflammation (swelling)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Temporary reduction in muscle strength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Pain during everyday activities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Note: Strength loss develops BEFORE soreness!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Arial Black"/>
              </a:defRPr>
            </a:pPr>
            <a:r>
              <a:t>PREVENTION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Start Slowly - Use the 10% rule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Gradually increase workout intensity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Warm up properly (5-10 min dynamic)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Cool down and stretch after exercise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Stay hydrated before, during, after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NOTE: Evidence for prevention is limited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Best prevention is consistent training!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Arial Black"/>
              </a:defRPr>
            </a:pPr>
            <a:r>
              <a:t>TREATMENT: WHAT WORKS? (EVIDENCE MIXED)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• NSAIDs - may mask pain, not speed recovery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Cryotherapy - reduces CK but not soreness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Massage - widely used but NOT proven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Electrical stimulation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• Light concentric exercise may help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Compression sleeves - faster recovery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Topical salicylate creams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CONTINUING TRAINING does NOT worsen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Arial Black"/>
              </a:defRPr>
            </a:pPr>
            <a:r>
              <a:t>MYTHS VS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MYTH: No pain, no gain - FACT: Progress = consistency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MYTH: Stretching prevents DOMS - FACT: Dynamic warmups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MYTH: More pain = more damage - FACT: DOMS is normal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IMPORTANT: Sharp pain is NOT DOMS - seek help!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Arial Black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DOMS is a NORMAL part of muscle adaptation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Increase gradually - do not rush progress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Recovery days are as important as workout days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Muscle adapts with repeated exercise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Sharp pain is NOT DOMS - seek help if concerned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Remember: Consistency beats intensity!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